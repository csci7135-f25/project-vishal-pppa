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Urbanist Medium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BC565F-A1B5-460F-9DE8-2161CBC78AF1}">
  <a:tblStyle styleId="{15BC565F-A1B5-460F-9DE8-2161CBC78A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Medium-regular.fntdata"/><Relationship Id="rId30" Type="http://schemas.openxmlformats.org/officeDocument/2006/relationships/font" Target="fonts/Poppins-boldItalic.fntdata"/><Relationship Id="rId33" Type="http://schemas.openxmlformats.org/officeDocument/2006/relationships/font" Target="fonts/UrbanistMedium-italic.fntdata"/><Relationship Id="rId32" Type="http://schemas.openxmlformats.org/officeDocument/2006/relationships/font" Target="fonts/UrbanistMedium-bold.fntdata"/><Relationship Id="rId35" Type="http://schemas.openxmlformats.org/officeDocument/2006/relationships/font" Target="fonts/Urbanist-regular.fntdata"/><Relationship Id="rId34" Type="http://schemas.openxmlformats.org/officeDocument/2006/relationships/font" Target="fonts/UrbanistMedium-boldItalic.fntdata"/><Relationship Id="rId37" Type="http://schemas.openxmlformats.org/officeDocument/2006/relationships/font" Target="fonts/Urbanist-italic.fntdata"/><Relationship Id="rId36" Type="http://schemas.openxmlformats.org/officeDocument/2006/relationships/font" Target="fonts/Urbanist-bold.fntdata"/><Relationship Id="rId39" Type="http://schemas.openxmlformats.org/officeDocument/2006/relationships/font" Target="fonts/PoppinsSemiBold-regular.fntdata"/><Relationship Id="rId38" Type="http://schemas.openxmlformats.org/officeDocument/2006/relationships/font" Target="fonts/Urbanist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29" Type="http://schemas.openxmlformats.org/officeDocument/2006/relationships/font" Target="fonts/Poppi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ae4f034f8f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ae4f034f8f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e4f034f8f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ae4f034f8f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e929c306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e929c306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68b225010431644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68b225010431644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ae4f034f8f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ae4f034f8f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ae4f034f8f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ae4f034f8f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aed52e85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aed52e85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68b225010431644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68b225010431644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68b225010431644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68b225010431644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e929c306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ae929c306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68b225010431644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68b225010431644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8b225010431644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8b225010431644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68b225010431644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68b225010431644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68b225010431644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68b225010431644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68b225010431644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68b225010431644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3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298375" y="248204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Mitigating Context Pollution in Neurosymbolic Widening via Slicing and Caching</a:t>
            </a:r>
            <a:endParaRPr sz="4400"/>
          </a:p>
        </p:txBody>
      </p:sp>
      <p:graphicFrame>
        <p:nvGraphicFramePr>
          <p:cNvPr id="619" name="Google Shape;619;p66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{15BC565F-A1B5-460F-9DE8-2161CBC78AF1}</a:tableStyleId>
              </a:tblPr>
              <a:tblGrid>
                <a:gridCol w="219075"/>
                <a:gridCol w="400050"/>
                <a:gridCol w="552450"/>
                <a:gridCol w="76200"/>
                <a:gridCol w="7896225"/>
              </a:tblGrid>
              <a:tr h="342900">
                <a:tc>
                  <a:txBody>
                    <a:bodyPr/>
                    <a:lstStyle/>
                    <a:p>
                      <a:pPr indent="0" lvl="0" marL="0" marR="53340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9FBFD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000">
                        <a:highlight>
                          <a:srgbClr val="F9FBFD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 txBox="1"/>
          <p:nvPr/>
        </p:nvSpPr>
        <p:spPr>
          <a:xfrm>
            <a:off x="474750" y="184600"/>
            <a:ext cx="3822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AbsInt-AI Overview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67"/>
          <p:cNvSpPr/>
          <p:nvPr/>
        </p:nvSpPr>
        <p:spPr>
          <a:xfrm>
            <a:off x="2349413" y="1361575"/>
            <a:ext cx="1732800" cy="910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6" name="Google Shape;626;p67"/>
          <p:cNvSpPr txBox="1"/>
          <p:nvPr/>
        </p:nvSpPr>
        <p:spPr>
          <a:xfrm>
            <a:off x="2491988" y="1619325"/>
            <a:ext cx="16671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Abstract Interpreter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27" name="Google Shape;627;p67"/>
          <p:cNvCxnSpPr/>
          <p:nvPr/>
        </p:nvCxnSpPr>
        <p:spPr>
          <a:xfrm flipH="1" rot="10800000">
            <a:off x="3673775" y="2340925"/>
            <a:ext cx="18600" cy="9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67"/>
          <p:cNvCxnSpPr/>
          <p:nvPr/>
        </p:nvCxnSpPr>
        <p:spPr>
          <a:xfrm>
            <a:off x="4047813" y="1805725"/>
            <a:ext cx="15354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9" name="Google Shape;629;p67"/>
          <p:cNvSpPr/>
          <p:nvPr/>
        </p:nvSpPr>
        <p:spPr>
          <a:xfrm>
            <a:off x="5583213" y="1361575"/>
            <a:ext cx="1535400" cy="1028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67"/>
          <p:cNvSpPr txBox="1"/>
          <p:nvPr/>
        </p:nvSpPr>
        <p:spPr>
          <a:xfrm>
            <a:off x="5517363" y="1624825"/>
            <a:ext cx="16671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More Precise Static Analysis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67"/>
          <p:cNvSpPr/>
          <p:nvPr/>
        </p:nvSpPr>
        <p:spPr>
          <a:xfrm>
            <a:off x="2293825" y="3395875"/>
            <a:ext cx="1843992" cy="833436"/>
          </a:xfrm>
          <a:prstGeom prst="cloud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32" name="Google Shape;632;p67"/>
          <p:cNvCxnSpPr/>
          <p:nvPr/>
        </p:nvCxnSpPr>
        <p:spPr>
          <a:xfrm flipH="1">
            <a:off x="2731013" y="2320863"/>
            <a:ext cx="8400" cy="9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3" name="Google Shape;633;p67"/>
          <p:cNvSpPr txBox="1"/>
          <p:nvPr/>
        </p:nvSpPr>
        <p:spPr>
          <a:xfrm>
            <a:off x="3760363" y="2803725"/>
            <a:ext cx="1151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Yes, abstract it.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4" name="Google Shape;634;p67"/>
          <p:cNvSpPr txBox="1"/>
          <p:nvPr/>
        </p:nvSpPr>
        <p:spPr>
          <a:xfrm>
            <a:off x="1819925" y="2641975"/>
            <a:ext cx="9195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Will this grow infinitely?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5" name="Google Shape;635;p67"/>
          <p:cNvSpPr txBox="1"/>
          <p:nvPr/>
        </p:nvSpPr>
        <p:spPr>
          <a:xfrm>
            <a:off x="2756063" y="3620738"/>
            <a:ext cx="9195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LM Guide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8"/>
          <p:cNvSpPr txBox="1"/>
          <p:nvPr/>
        </p:nvSpPr>
        <p:spPr>
          <a:xfrm>
            <a:off x="474750" y="184600"/>
            <a:ext cx="3822600" cy="72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AbsInt-AI Overview: Abstract Semantics &amp; Soundness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1" name="Google Shape;641;p68"/>
          <p:cNvSpPr txBox="1"/>
          <p:nvPr/>
        </p:nvSpPr>
        <p:spPr>
          <a:xfrm>
            <a:off x="139288" y="1075188"/>
            <a:ext cx="52602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Neural</a:t>
            </a: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-Symbolic Widening for Heap Abstractions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\hat{v}' = \begin{cases}&#10;    \text{Num} &amp; \text{if } \hat{v} \text{ contains multiple primitive integers} \\&#10;    \text{String} &amp; \text{if } \hat{v} \text{ contains multiple primitive strings} \\&#10;    \text{Boolean} &amp; \text{if } \hat{v} \text{ contains multiple primitive booleans} \\&#10;    \text{RecursiveMerge}(O) &amp; \text{if } \hat{v} = O \text{ and } R_{LM}(O) = \text{&quot;ALL FIELDS&quot;} \\&#10;    \text{SelectiveMerge}(O, F_{\text{all}}) &amp; \text{if } \hat{v} = O \text{ and } R_{LM}(O) = \text{&quot;INDIVIDUAL FIELDS&quot;}&#10;\end{cases}&#10;\end{equation}&#10;%5f3efe65-04ec-468a-8687-d510c360ecdc" id="642" name="Google Shape;64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6963" y="3084575"/>
            <a:ext cx="5697750" cy="98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\text{summarize}(v) \implies \hat{v} \to \hat{v}'&#10;\end{equation}&#10;%cce4efb6-b6c0-470a-b0dd-f436c8a2eed8" id="643" name="Google Shape;64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213" y="3457388"/>
            <a:ext cx="23806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68"/>
          <p:cNvSpPr txBox="1"/>
          <p:nvPr/>
        </p:nvSpPr>
        <p:spPr>
          <a:xfrm>
            <a:off x="173313" y="2871200"/>
            <a:ext cx="25911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Summarize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\frac{\langle H_L, H_G, \sigma, E \rangle \to \langle H'_L, H'_G, \sigma', V \rangle \quad V \notin \text{Falsey} \quad \langle H'_L, H'_G, \sigma', \text{Stmt}; \text{summarize}() \rangle \to \langle H''_L, H''_G, \sigma'' \rangle}{\langle H_L, H_G, \sigma, \text{while } (E) \{ \text{Stmt} \} \rangle \to \langle H''_L, H''_G, \sigma'', \text{while } (E) \{ \text{Stmt} \} \rangle}&#10;\end{equation}&#10;%92b65a51-da09-4cf7-bfe3-df567c49a8c6" id="645" name="Google Shape;645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00" y="1495175"/>
            <a:ext cx="63341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\frac{\langle H_L, H_G, \sigma, E \rangle \to \langle H'_L, H'_G, \sigma', V \rangle \quad V \in \text{Falsey}}{\langle H_L, H_G, \sigma, \text{while } (E) \{ \text{Stmt} \} \rangle \to \langle H'_L, H'_G, \sigma', \text{skip} \rangle}&#10;\end{equation}&#10;%50396634-d0b7-4e57-87b4-61ba4ffd2612" id="646" name="Google Shape;646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088" y="2039013"/>
            <a:ext cx="33242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9"/>
          <p:cNvSpPr txBox="1"/>
          <p:nvPr/>
        </p:nvSpPr>
        <p:spPr>
          <a:xfrm>
            <a:off x="474750" y="184600"/>
            <a:ext cx="3822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AbsInt-AI Overview: Abstract Semantics Pt.2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52" name="Google Shape;652;p69" title="Screenshot 2025-12-08 at 10.02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75" y="2773574"/>
            <a:ext cx="2584250" cy="213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69" title="Screenshot 2025-12-08 at 10.03.1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6275" y="2773575"/>
            <a:ext cx="2515111" cy="213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69" title="Screenshot 2025-12-08 at 10.25.05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4875" y="1398151"/>
            <a:ext cx="3822601" cy="88937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69"/>
          <p:cNvSpPr txBox="1"/>
          <p:nvPr/>
        </p:nvSpPr>
        <p:spPr>
          <a:xfrm>
            <a:off x="699650" y="2333075"/>
            <a:ext cx="3822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Allocation site abstraction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6" name="Google Shape;656;p69"/>
          <p:cNvSpPr txBox="1"/>
          <p:nvPr/>
        </p:nvSpPr>
        <p:spPr>
          <a:xfrm>
            <a:off x="5998475" y="2333075"/>
            <a:ext cx="3822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LM-guided abstraction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0"/>
          <p:cNvSpPr txBox="1"/>
          <p:nvPr/>
        </p:nvSpPr>
        <p:spPr>
          <a:xfrm>
            <a:off x="474750" y="184600"/>
            <a:ext cx="1733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Why Solve? 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2" name="Google Shape;662;p70"/>
          <p:cNvSpPr txBox="1"/>
          <p:nvPr/>
        </p:nvSpPr>
        <p:spPr>
          <a:xfrm>
            <a:off x="718200" y="1246275"/>
            <a:ext cx="168900" cy="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3" name="Google Shape;663;p70"/>
          <p:cNvSpPr txBox="1"/>
          <p:nvPr/>
        </p:nvSpPr>
        <p:spPr>
          <a:xfrm>
            <a:off x="1476750" y="1007775"/>
            <a:ext cx="61905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Soundness is Promised… But Is Precision Reliable? </a:t>
            </a:r>
            <a:r>
              <a:rPr b="1" i="1" lang="en" sz="21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endParaRPr b="1" i="1" sz="24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4" name="Google Shape;664;p70"/>
          <p:cNvSpPr txBox="1"/>
          <p:nvPr/>
        </p:nvSpPr>
        <p:spPr>
          <a:xfrm>
            <a:off x="50925" y="1731725"/>
            <a:ext cx="637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LM Error Type 1: LM Decides to abstract when it shouldn’t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    \hat{\rho}_{\text{precise}} \sqsubseteq \hat{\rho}_{\text{abstracted}} \quad \text{(Soundness Maintained)}&#10;\end{equation}&#10;%e782a084-c96b-4c8c-a160-114fc79a11ce" id="665" name="Google Shape;66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100" y="2185625"/>
            <a:ext cx="4333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    \hat{\rho}_0 \sqsubset \hat{\rho}_1 \sqsubset \hat{\rho}_2 \sqsubset \dots \quad \text{(Impedes on convergence)}&#10;\end{equation}&#10;%bf3e7c05-4cc0-407e-a121-4beeadf047fb" id="666" name="Google Shape;66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00" y="3500588"/>
            <a:ext cx="45624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0"/>
          <p:cNvSpPr txBox="1"/>
          <p:nvPr/>
        </p:nvSpPr>
        <p:spPr>
          <a:xfrm>
            <a:off x="50925" y="2989700"/>
            <a:ext cx="637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LM Error Type 2: LM Decides not to abstract when it should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1"/>
          <p:cNvSpPr txBox="1"/>
          <p:nvPr/>
        </p:nvSpPr>
        <p:spPr>
          <a:xfrm>
            <a:off x="474750" y="184600"/>
            <a:ext cx="3822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 PROBLEM: </a:t>
            </a: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Query Explosion/</a:t>
            </a: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Hallucination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73" name="Google Shape;673;p71" title="Screenshot 2025-12-07 at 12.34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448" y="1218124"/>
            <a:ext cx="4198453" cy="3187523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71"/>
          <p:cNvSpPr txBox="1"/>
          <p:nvPr/>
        </p:nvSpPr>
        <p:spPr>
          <a:xfrm>
            <a:off x="4426525" y="823375"/>
            <a:ext cx="4477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Theory: Irrelevant Context -&gt; Imprecise Abstraction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P \text{: the entire static program code}&#10;\end{equation}&#10;%601b3e84-f99c-4dad-a3c0-a5fd1fc955a4" id="675" name="Google Shape;67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25" y="3241975"/>
            <a:ext cx="2372750" cy="15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(\Sigma^\sharp)  \text{: the entire abstract state}&#10;\end{equation}&#10;%c93061e0-0c00-49e0-b8ef-b2bc28f2164d" id="676" name="Google Shape;676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00" y="3575675"/>
            <a:ext cx="2194125" cy="19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 \mathcal{Q} = \left\langle str(P), \quad json(\mathbf{\Sigma^\sharp}) \right\rangle&#10;\end{equation}&#10;%6a5d16e1-9d24-4325-878c-e9347ae611e9" id="677" name="Google Shape;677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488" y="2295525"/>
            <a:ext cx="2524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D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2"/>
          <p:cNvSpPr txBox="1"/>
          <p:nvPr/>
        </p:nvSpPr>
        <p:spPr>
          <a:xfrm>
            <a:off x="474750" y="184600"/>
            <a:ext cx="3822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 PROBLEM: Analysis Time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\text{Total Queries} \propto \sum_{\text{Loops}} (\text{Iterations to Fixpoint}) + \sum_{\text{Global Updates}}&#10;\end{equation}&#10;%69b751fe-8025-4623-ac9c-c001e219c9c7" id="683" name="Google Shape;68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050" y="1471300"/>
            <a:ext cx="61436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T_{\text{analysis}} = T_{\text{AI}} + \sum_{i=1}^{N} T_{\text{LM}}(|\mathcal{Q}_i|)&#10;\end{equation}&#10;%4b1d1e8f-7dce-4cd7-bf2e-5415ca8da608" id="684" name="Google Shape;68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050" y="2636375"/>
            <a:ext cx="30861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3"/>
          <p:cNvSpPr txBox="1"/>
          <p:nvPr/>
        </p:nvSpPr>
        <p:spPr>
          <a:xfrm>
            <a:off x="474750" y="184600"/>
            <a:ext cx="46359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Why is it Challenging? 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73"/>
          <p:cNvSpPr txBox="1"/>
          <p:nvPr/>
        </p:nvSpPr>
        <p:spPr>
          <a:xfrm>
            <a:off x="2192175" y="1469500"/>
            <a:ext cx="49473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CONTEXT </a:t>
            </a:r>
            <a:endParaRPr b="1"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= </a:t>
            </a:r>
            <a:endParaRPr b="1"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CONSTRAINTS</a:t>
            </a:r>
            <a:endParaRPr b="1"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91" name="Google Shape;691;p73" title="Screenshot 2025-12-08 at 10.25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25" y="3619653"/>
            <a:ext cx="2524223" cy="12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73" title="Screenshot 2025-12-08 at 10.26.0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7500" y="3619650"/>
            <a:ext cx="2524223" cy="1293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73" title="Screenshot 2025-12-08 at 10.26.35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0463" y="3205185"/>
            <a:ext cx="3332700" cy="170841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73"/>
          <p:cNvSpPr txBox="1"/>
          <p:nvPr/>
        </p:nvSpPr>
        <p:spPr>
          <a:xfrm>
            <a:off x="365925" y="1667375"/>
            <a:ext cx="3238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Sustaining Semantic Properties of Code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For the LLM 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5" name="Google Shape;695;p73"/>
          <p:cNvSpPr txBox="1"/>
          <p:nvPr/>
        </p:nvSpPr>
        <p:spPr>
          <a:xfrm>
            <a:off x="5743225" y="1629275"/>
            <a:ext cx="3238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Discarding Irrelevant Code that might confuse LM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4"/>
          <p:cNvSpPr txBox="1"/>
          <p:nvPr/>
        </p:nvSpPr>
        <p:spPr>
          <a:xfrm>
            <a:off x="474750" y="184600"/>
            <a:ext cx="8484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Contribution 1: Notation/Abstract Semantics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|\mathcal{Q}_{\text{Slice}}| \ll |\mathcal{Q}|&#10;\end{equation}&#10;%62d4faf8-cc19-4f02-b211-7726251241ca" id="701" name="Google Shape;70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600" y="1172975"/>
            <a:ext cx="1304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74"/>
          <p:cNvSpPr txBox="1"/>
          <p:nvPr/>
        </p:nvSpPr>
        <p:spPr>
          <a:xfrm>
            <a:off x="585300" y="1094525"/>
            <a:ext cx="1770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How can we make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74"/>
          <p:cNvSpPr txBox="1"/>
          <p:nvPr/>
        </p:nvSpPr>
        <p:spPr>
          <a:xfrm>
            <a:off x="3660525" y="1068275"/>
            <a:ext cx="1292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\quad P_{\text{slice}} \leftarrow \overleftarrow{\mathcal{S}}(P, \ell, V_{\text{div}}) \quad \text{(Backward Slice: Prunes irrelevant code)} &#10;\end{equation}&#10;%bd3a17bb-51ca-4c20-9c0f-b8ebf2bba817" id="704" name="Google Shape;70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75" y="2525000"/>
            <a:ext cx="5632775" cy="33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\quad \Sigma^\sharp_{\text{proj}} \leftarrow \hat{\rho}' \upharpoonright \text{Vars}(P_{\text{slice}}) \quad \text{(Projection: Prunes irrelevant state)} \\&#10;\end{equation}&#10;%5c53fee6-5901-4b60-adf0-fb63bc21de29" id="705" name="Google Shape;70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288" y="3075996"/>
            <a:ext cx="5352125" cy="286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\ell: \text{the program location}&#10;\end{equation}&#10;%ff565482-4c83-4805-a3a7-2b60eee2a472" id="706" name="Google Shape;70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8525" y="1781063"/>
            <a:ext cx="2054802" cy="187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V_{div}: \text{the specific local and global variables that grown or changed during iteration}&#10;\end{equation}&#10;%5e2e7fd7-be1e-46ab-ba53-f23c0ee215e5" id="707" name="Google Shape;707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8525" y="2208299"/>
            <a:ext cx="7076694" cy="18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\mathcal{Q}_{\text{slice}} = \left\langle \mathcal str \left(\overleftarrow{\mathcal{S}}(P, \ell, V_{\text{div}})\right), \quad \mathcal json\left(\Sigma^\sharp \mathbf{\upharpoonright \text{Vars}(\overleftarrow{\mathcal{S}})}\right) \right\rangle&#10;\end{equation}&#10;%cae737e1-52f5-4567-b0ca-ed80ae451e64" id="708" name="Google Shape;708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525" y="3526100"/>
            <a:ext cx="5172224" cy="5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5"/>
          <p:cNvSpPr txBox="1"/>
          <p:nvPr/>
        </p:nvSpPr>
        <p:spPr>
          <a:xfrm>
            <a:off x="474750" y="184600"/>
            <a:ext cx="8484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Contribution 1: What is important? What is not?  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4" name="Google Shape;714;p75"/>
          <p:cNvSpPr txBox="1"/>
          <p:nvPr/>
        </p:nvSpPr>
        <p:spPr>
          <a:xfrm>
            <a:off x="580575" y="1242775"/>
            <a:ext cx="27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How can we exclude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5" name="Google Shape;715;p75"/>
          <p:cNvSpPr txBox="1"/>
          <p:nvPr/>
        </p:nvSpPr>
        <p:spPr>
          <a:xfrm>
            <a:off x="580575" y="1623775"/>
            <a:ext cx="7565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-"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Irrelevant Code (Does not flow into      )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-"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Irrelevant State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6" name="Google Shape;716;p75"/>
          <p:cNvSpPr txBox="1"/>
          <p:nvPr/>
        </p:nvSpPr>
        <p:spPr>
          <a:xfrm>
            <a:off x="580575" y="2481175"/>
            <a:ext cx="1987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While still keeping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7" name="Google Shape;717;p75"/>
          <p:cNvSpPr txBox="1"/>
          <p:nvPr/>
        </p:nvSpPr>
        <p:spPr>
          <a:xfrm>
            <a:off x="580575" y="2905575"/>
            <a:ext cx="7565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-"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Semantic understanding code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-"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Necessary Control Flow Properties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-"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Relevant State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18" name="Google Shape;718;p75" title="Screenshot 2025-12-09 at 11.44.4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250" y="1679425"/>
            <a:ext cx="272150" cy="3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6"/>
          <p:cNvSpPr txBox="1"/>
          <p:nvPr/>
        </p:nvSpPr>
        <p:spPr>
          <a:xfrm>
            <a:off x="474750" y="184600"/>
            <a:ext cx="84846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Contribution 1: Backwards Slicing Algorithm (Mark Wieser 1980) 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4" name="Google Shape;724;p76"/>
          <p:cNvSpPr txBox="1"/>
          <p:nvPr/>
        </p:nvSpPr>
        <p:spPr>
          <a:xfrm>
            <a:off x="508000" y="907150"/>
            <a:ext cx="4157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Finding the Dependency Closure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\frac{S \notin P_{slice} \quad  \quad (Def(S) \cap V_{trace} \neq \emptyset)}&#10;{&#10;\begin{aligned}&#10;P_{slice}' &amp;= P_{slice} \cup \{S\} \\&#10;V_{trace}' &amp;= V_{trace} \cup Use(S)&#10;\end{aligned}&#10;}&#10;\end{equation}&#10;%ebaafb62-3c66-48ce-a9df-0948769e37c3" id="725" name="Google Shape;72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981200"/>
            <a:ext cx="3102425" cy="7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76"/>
          <p:cNvSpPr txBox="1"/>
          <p:nvPr/>
        </p:nvSpPr>
        <p:spPr>
          <a:xfrm>
            <a:off x="474750" y="1551400"/>
            <a:ext cx="4157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Data Dependency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7" name="Google Shape;727;p76"/>
          <p:cNvSpPr txBox="1"/>
          <p:nvPr/>
        </p:nvSpPr>
        <p:spPr>
          <a:xfrm>
            <a:off x="474750" y="2937525"/>
            <a:ext cx="4157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Control Dependency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\frac{S \notin P_{slice} \quad \land \quad (\exists S' \in P_{slice} : S' \in Scope(S))}&#10;{&#10;\begin{aligned}&#10;P_{slice}' &amp;= P_{slice} \cup \{S\} \\&#10;V_{trace}' &amp;= V_{trace} \cup Use(S)&#10;\end{aligned}&#10;}&#10;\end{equation}&#10;%44754092-9342-4acc-8032-214b6bbec1ac" id="728" name="Google Shape;72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00" y="3501575"/>
            <a:ext cx="3804189" cy="7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7"/>
          <p:cNvSpPr txBox="1"/>
          <p:nvPr/>
        </p:nvSpPr>
        <p:spPr>
          <a:xfrm>
            <a:off x="474750" y="184600"/>
            <a:ext cx="8484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Contribution 1: Semantic Slicing Algorithm Pt.2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(P_{slice}^{(k+1)}, V_{trace}^{(k+1)}) = (P_{slice}^{(k)}, V_{trace}^{(k)})&#10;\end{equation}&#10;%2ee447f7-2b02-4e6a-82ac-5e5d39a278fe" id="734" name="Google Shape;7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50" y="1578425"/>
            <a:ext cx="304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7"/>
          <p:cNvSpPr txBox="1"/>
          <p:nvPr/>
        </p:nvSpPr>
        <p:spPr>
          <a:xfrm>
            <a:off x="-317500" y="408225"/>
            <a:ext cx="48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6" name="Google Shape;736;p77"/>
          <p:cNvSpPr txBox="1"/>
          <p:nvPr/>
        </p:nvSpPr>
        <p:spPr>
          <a:xfrm>
            <a:off x="526150" y="1070425"/>
            <a:ext cx="65949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Option 1: Iterate Backwards until fixed point →O(N * passes)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7" name="Google Shape;737;p77"/>
          <p:cNvSpPr txBox="1"/>
          <p:nvPr/>
        </p:nvSpPr>
        <p:spPr>
          <a:xfrm>
            <a:off x="526150" y="2345100"/>
            <a:ext cx="71511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Option 2: Build a Program Dependence Graph → O(Nodes * Edges)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\begin{equation}&#10;G_{PDG} = (Node, Edge_{CD}, Edge_{DD})&#10;\end{equation}&#10;%a67726c6-f967-4c3f-8760-2ad4d220c7e2" id="738" name="Google Shape;73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850" y="2934475"/>
            <a:ext cx="33147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8"/>
          <p:cNvSpPr txBox="1"/>
          <p:nvPr/>
        </p:nvSpPr>
        <p:spPr>
          <a:xfrm>
            <a:off x="474750" y="184600"/>
            <a:ext cx="8484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Contribution 2: Query Caching &amp; Parallelization with Program Dependence Graph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4" name="Google Shape;744;p78"/>
          <p:cNvSpPr txBox="1"/>
          <p:nvPr/>
        </p:nvSpPr>
        <p:spPr>
          <a:xfrm>
            <a:off x="544275" y="1143000"/>
            <a:ext cx="37920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5" name="Google Shape;745;p78"/>
          <p:cNvSpPr txBox="1"/>
          <p:nvPr/>
        </p:nvSpPr>
        <p:spPr>
          <a:xfrm>
            <a:off x="544275" y="1027625"/>
            <a:ext cx="713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Analysis speed is bottlenecked by the number of LM calls we run</a:t>
            </a:r>
            <a:endParaRPr b="1" i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78"/>
          <p:cNvSpPr txBox="1"/>
          <p:nvPr/>
        </p:nvSpPr>
        <p:spPr>
          <a:xfrm>
            <a:off x="535225" y="1714500"/>
            <a:ext cx="22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78"/>
          <p:cNvSpPr txBox="1"/>
          <p:nvPr/>
        </p:nvSpPr>
        <p:spPr>
          <a:xfrm>
            <a:off x="633175" y="1604850"/>
            <a:ext cx="44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Change Impact Analysis: </a:t>
            </a:r>
            <a:endParaRPr b="1" sz="18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8" name="Google Shape;748;p78"/>
          <p:cNvSpPr txBox="1"/>
          <p:nvPr/>
        </p:nvSpPr>
        <p:spPr>
          <a:xfrm>
            <a:off x="633175" y="2836750"/>
            <a:ext cx="403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Parallelization via PDG: </a:t>
            </a:r>
            <a:r>
              <a:rPr b="1" lang="en" sz="18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8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9" name="Google Shape;749;p78"/>
          <p:cNvSpPr txBox="1"/>
          <p:nvPr/>
        </p:nvSpPr>
        <p:spPr>
          <a:xfrm>
            <a:off x="707575" y="3202225"/>
            <a:ext cx="48168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Identify sub-graphs that do not rely on each other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Run independent sections concurrently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0" name="Google Shape;750;p78"/>
          <p:cNvSpPr txBox="1"/>
          <p:nvPr/>
        </p:nvSpPr>
        <p:spPr>
          <a:xfrm>
            <a:off x="737125" y="2041875"/>
            <a:ext cx="7139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Cache a hashed PGD with LM responses for each query after first run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On second run, if specific dependencies haven’t changed return older response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Update cache if needed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9"/>
          <p:cNvSpPr txBox="1"/>
          <p:nvPr/>
        </p:nvSpPr>
        <p:spPr>
          <a:xfrm>
            <a:off x="474750" y="202725"/>
            <a:ext cx="8484600" cy="51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Evaluation (Plan). 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6" name="Google Shape;756;p79"/>
          <p:cNvSpPr txBox="1"/>
          <p:nvPr/>
        </p:nvSpPr>
        <p:spPr>
          <a:xfrm>
            <a:off x="539700" y="961575"/>
            <a:ext cx="80646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Allocation-Site AI vs. LM-Guided AbsInt vs. Sliced LM-Guided Absint</a:t>
            </a:r>
            <a:endParaRPr b="1"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7" name="Google Shape;757;p79"/>
          <p:cNvSpPr txBox="1"/>
          <p:nvPr/>
        </p:nvSpPr>
        <p:spPr>
          <a:xfrm>
            <a:off x="653150" y="1542150"/>
            <a:ext cx="2530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8" name="Google Shape;758;p79"/>
          <p:cNvSpPr txBox="1"/>
          <p:nvPr/>
        </p:nvSpPr>
        <p:spPr>
          <a:xfrm>
            <a:off x="474750" y="1542150"/>
            <a:ext cx="80646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Looking for: </a:t>
            </a:r>
            <a:endParaRPr b="1"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9" name="Google Shape;759;p79"/>
          <p:cNvSpPr txBox="1"/>
          <p:nvPr/>
        </p:nvSpPr>
        <p:spPr>
          <a:xfrm>
            <a:off x="539700" y="1912275"/>
            <a:ext cx="8064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False positive rate (Precision)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Checking</a:t>
            </a: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whether false positives are due to </a:t>
            </a: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aggressive</a:t>
            </a: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widening. 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Runtime &amp; Performance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perf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Convergence &amp; Scalability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Define </a:t>
            </a: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specific</a:t>
            </a: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non-convergence thresholds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-"/>
            </a:pPr>
            <a:r>
              <a:rPr b="1" lang="e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Observe analysis behaviour during loop execution</a:t>
            </a:r>
            <a:endParaRPr b="1"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60" name="Google Shape;760;p79" title="Screenshot 2025-12-09 at 8.40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465" y="4172975"/>
            <a:ext cx="4587309" cy="5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0"/>
          <p:cNvSpPr txBox="1"/>
          <p:nvPr/>
        </p:nvSpPr>
        <p:spPr>
          <a:xfrm>
            <a:off x="474750" y="184600"/>
            <a:ext cx="8484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r>
              <a:rPr b="1"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1"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6" name="Google Shape;766;p80"/>
          <p:cNvSpPr txBox="1"/>
          <p:nvPr/>
        </p:nvSpPr>
        <p:spPr>
          <a:xfrm>
            <a:off x="453575" y="1533075"/>
            <a:ext cx="2957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Semantic Understanding of Code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7" name="Google Shape;767;p80"/>
          <p:cNvSpPr/>
          <p:nvPr/>
        </p:nvSpPr>
        <p:spPr>
          <a:xfrm>
            <a:off x="154225" y="2001175"/>
            <a:ext cx="3392712" cy="1714500"/>
          </a:xfrm>
          <a:prstGeom prst="cloud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8" name="Google Shape;768;p80"/>
          <p:cNvSpPr txBox="1"/>
          <p:nvPr/>
        </p:nvSpPr>
        <p:spPr>
          <a:xfrm>
            <a:off x="1171025" y="2631625"/>
            <a:ext cx="1522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LLM Oracle 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9" name="Google Shape;769;p80"/>
          <p:cNvSpPr txBox="1"/>
          <p:nvPr/>
        </p:nvSpPr>
        <p:spPr>
          <a:xfrm>
            <a:off x="5705925" y="1705425"/>
            <a:ext cx="205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0" name="Google Shape;770;p80"/>
          <p:cNvSpPr txBox="1"/>
          <p:nvPr/>
        </p:nvSpPr>
        <p:spPr>
          <a:xfrm>
            <a:off x="5383775" y="1533075"/>
            <a:ext cx="2957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Soundness Guarantees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1" name="Google Shape;771;p80"/>
          <p:cNvSpPr/>
          <p:nvPr/>
        </p:nvSpPr>
        <p:spPr>
          <a:xfrm>
            <a:off x="5197925" y="2122725"/>
            <a:ext cx="3329100" cy="1451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2" name="Google Shape;772;p80"/>
          <p:cNvSpPr txBox="1"/>
          <p:nvPr/>
        </p:nvSpPr>
        <p:spPr>
          <a:xfrm>
            <a:off x="5383775" y="2595325"/>
            <a:ext cx="2957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Static Analysis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3" name="Google Shape;773;p80"/>
          <p:cNvSpPr/>
          <p:nvPr/>
        </p:nvSpPr>
        <p:spPr>
          <a:xfrm>
            <a:off x="3918825" y="2503700"/>
            <a:ext cx="907200" cy="861900"/>
          </a:xfrm>
          <a:prstGeom prst="hear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